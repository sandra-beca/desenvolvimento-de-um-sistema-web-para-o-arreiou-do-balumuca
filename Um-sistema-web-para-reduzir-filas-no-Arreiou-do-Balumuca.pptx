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Bacasime Antique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Funnel Sans" panose="020B0604020202020204" charset="0"/>
      <p:regular r:id="rId18"/>
    </p:embeddedFont>
    <p:embeddedFont>
      <p:font typeface="Funnel Sans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7506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DCE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DCE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hyperlink" Target="https://developer.mozilla.org/en-US/docs/Web/HTML" TargetMode="External"/><Relationship Id="rId7" Type="http://schemas.openxmlformats.org/officeDocument/2006/relationships/hyperlink" Target="https://owasp.org/www-project-top-ten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ev.mysql.com/doc/refman/8.4/en/" TargetMode="External"/><Relationship Id="rId5" Type="http://schemas.openxmlformats.org/officeDocument/2006/relationships/hyperlink" Target="https://www.php.net/manual/en/" TargetMode="External"/><Relationship Id="rId4" Type="http://schemas.openxmlformats.org/officeDocument/2006/relationships/hyperlink" Target="https://developer.mozilla.org/en-US/docs/Web/CS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182" y="1016000"/>
            <a:ext cx="6603835" cy="5639991"/>
          </a:xfrm>
          <a:prstGeom prst="roundRect">
            <a:avLst>
              <a:gd name="adj" fmla="val 540"/>
            </a:avLst>
          </a:prstGeom>
          <a:solidFill>
            <a:srgbClr val="F5F9FD"/>
          </a:solidFill>
          <a:ln/>
        </p:spPr>
      </p:sp>
      <p:sp>
        <p:nvSpPr>
          <p:cNvPr id="3" name="Text 1"/>
          <p:cNvSpPr/>
          <p:nvPr/>
        </p:nvSpPr>
        <p:spPr>
          <a:xfrm>
            <a:off x="1015975" y="1295400"/>
            <a:ext cx="5994250" cy="345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800" kern="100" spc="-102" dirty="0">
                <a:solidFill>
                  <a:srgbClr val="2A3B5C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Um sistema web para reduzir filas no Arreiou do Balumuca</a:t>
            </a:r>
            <a:endParaRPr lang="en-US" sz="6800" dirty="0"/>
          </a:p>
        </p:txBody>
      </p:sp>
      <p:sp>
        <p:nvSpPr>
          <p:cNvPr id="4" name="Text 2"/>
          <p:cNvSpPr/>
          <p:nvPr/>
        </p:nvSpPr>
        <p:spPr>
          <a:xfrm>
            <a:off x="1015975" y="4933950"/>
            <a:ext cx="599425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i="1" dirty="0">
                <a:solidFill>
                  <a:srgbClr val="1E2B44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Proposta de protótipo para organizar pedidos de pão, acompanhar o atendimento e tornar o fluxo da caixa mais previsível.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015975" y="6080125"/>
            <a:ext cx="5994250" cy="6350"/>
          </a:xfrm>
          <a:prstGeom prst="rect">
            <a:avLst/>
          </a:prstGeom>
          <a:solidFill>
            <a:srgbClr val="7D8DA6"/>
          </a:solidFill>
          <a:ln/>
        </p:spPr>
      </p:sp>
      <p:sp>
        <p:nvSpPr>
          <p:cNvPr id="6" name="Text 4"/>
          <p:cNvSpPr/>
          <p:nvPr/>
        </p:nvSpPr>
        <p:spPr>
          <a:xfrm>
            <a:off x="1015975" y="6085364"/>
            <a:ext cx="5994250" cy="296466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88" dirty="0">
                <a:solidFill>
                  <a:srgbClr val="1E2B4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PROJECTO TECNOLÓGICO · PROPOSTA DE PROTÓTIPO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33400"/>
            <a:ext cx="10972526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000" kern="100" spc="-40" dirty="0">
                <a:solidFill>
                  <a:srgbClr val="2A3B5C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O problema está no encontro entre pedido, preparação e pagamento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09585" y="1833761"/>
            <a:ext cx="1158211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i="1" dirty="0">
                <a:solidFill>
                  <a:srgbClr val="1E2B44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A fila pode nascer em mais do que um ponto do atendimento.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325239"/>
            <a:ext cx="380990" cy="381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2971" y="2312491"/>
            <a:ext cx="10439139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2A3B5C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Espera repetida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142971" y="2794456"/>
            <a:ext cx="1043913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1E2B4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Clientes podem enfrentar espera no pão e novamente na caixa.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3789609"/>
            <a:ext cx="380990" cy="381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2971" y="3776861"/>
            <a:ext cx="10439139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2A3B5C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Informação dispersa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1142971" y="4258826"/>
            <a:ext cx="1043913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1E2B4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Pedidos presenciais, informação dispersa e preparação tardia podem concentrar pessoas no balcão.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5253978"/>
            <a:ext cx="380990" cy="381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2971" y="5241230"/>
            <a:ext cx="10439139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2A3B5C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Problema a confirmar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1142971" y="5723196"/>
            <a:ext cx="1043913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1E2B4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As causas reais ainda precisam de ser confirmadas por observação no estabelecimento.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199722" y="203498"/>
            <a:ext cx="235678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22" dirty="0">
                <a:solidFill>
                  <a:srgbClr val="1E2B44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09585" y="3541911"/>
            <a:ext cx="10972526" cy="12700"/>
          </a:xfrm>
          <a:prstGeom prst="rect">
            <a:avLst/>
          </a:prstGeom>
          <a:solidFill>
            <a:srgbClr val="7D8DA6"/>
          </a:solidFill>
          <a:ln/>
        </p:spPr>
      </p:sp>
      <p:sp>
        <p:nvSpPr>
          <p:cNvPr id="15" name="Shape 10"/>
          <p:cNvSpPr/>
          <p:nvPr/>
        </p:nvSpPr>
        <p:spPr>
          <a:xfrm>
            <a:off x="609585" y="5006280"/>
            <a:ext cx="10972526" cy="12700"/>
          </a:xfrm>
          <a:prstGeom prst="rect">
            <a:avLst/>
          </a:prstGeom>
          <a:solidFill>
            <a:srgbClr val="7D8DA6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60546"/>
            <a:ext cx="6431198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66" dirty="0">
                <a:solidFill>
                  <a:srgbClr val="2964A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PERGUNTA DE INVESTIGAÇÃO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45443"/>
            <a:ext cx="5821614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200" kern="100" spc="-78" dirty="0">
                <a:solidFill>
                  <a:srgbClr val="2A3B5C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A tecnologia pode organizar melhor o atendimento?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09585" y="3033494"/>
            <a:ext cx="5821614" cy="296466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88" dirty="0">
                <a:solidFill>
                  <a:srgbClr val="1E2B4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PESQUISA PARTE DO FLUXO ACTUAL E TESTA UMA PROPOSTA NO LOCAL.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7873" y="62111"/>
            <a:ext cx="4571886" cy="381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5001121"/>
            <a:ext cx="4876678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2A3B5C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Observar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09585" y="5483086"/>
            <a:ext cx="4876678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1E2B4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 fluxo actual, as necessidades dos clientes e o trabalho dos funcionários.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705432" y="5001121"/>
            <a:ext cx="4876678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2A3B5C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Avaliar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6705432" y="5483086"/>
            <a:ext cx="4876678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1E2B4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Tempo de espera, pedidos concluídos e satisfação durante um teste piloto.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99722" y="203498"/>
            <a:ext cx="235678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22" dirty="0">
                <a:solidFill>
                  <a:srgbClr val="1E2B44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03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89498" y="4391521"/>
            <a:ext cx="12700" cy="2287786"/>
          </a:xfrm>
          <a:prstGeom prst="rect">
            <a:avLst/>
          </a:prstGeom>
          <a:solidFill>
            <a:srgbClr val="7D8DA6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08000"/>
            <a:ext cx="10972526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000" kern="100" spc="-40" dirty="0">
                <a:solidFill>
                  <a:srgbClr val="2A3B5C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O protótipo antecipa o pedido e dá-lhe um estado claro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09585" y="1259780"/>
            <a:ext cx="1158211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i="1" dirty="0">
                <a:solidFill>
                  <a:srgbClr val="1E2B44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Cada etapa torna o atendimento mais visível para quem pede e para quem prepara.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9585" y="1738511"/>
            <a:ext cx="80940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1E2B44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2021384"/>
            <a:ext cx="2400240" cy="12601"/>
          </a:xfrm>
          <a:prstGeom prst="rect">
            <a:avLst/>
          </a:prstGeom>
          <a:solidFill>
            <a:srgbClr val="7D8DA6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154337"/>
            <a:ext cx="240024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2A3B5C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Consultar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09585" y="2636302"/>
            <a:ext cx="2400240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1E2B4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Cliente consulta produtos, preços e disponibilidade confirmada.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67013" y="1738511"/>
            <a:ext cx="80940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1E2B44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67013" y="2021384"/>
            <a:ext cx="2400240" cy="12601"/>
          </a:xfrm>
          <a:prstGeom prst="rect">
            <a:avLst/>
          </a:prstGeom>
          <a:solidFill>
            <a:srgbClr val="7D8DA6"/>
          </a:solidFill>
          <a:ln/>
        </p:spPr>
      </p:sp>
      <p:sp>
        <p:nvSpPr>
          <p:cNvPr id="10" name="Text 8"/>
          <p:cNvSpPr/>
          <p:nvPr/>
        </p:nvSpPr>
        <p:spPr>
          <a:xfrm>
            <a:off x="3467013" y="2154337"/>
            <a:ext cx="240024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2A3B5C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Registar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467013" y="2636302"/>
            <a:ext cx="2400240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1E2B4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Regista o pedido e recebe um código de referência.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24442" y="1738511"/>
            <a:ext cx="80940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1E2B44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24442" y="2021384"/>
            <a:ext cx="2400240" cy="12601"/>
          </a:xfrm>
          <a:prstGeom prst="rect">
            <a:avLst/>
          </a:prstGeom>
          <a:solidFill>
            <a:srgbClr val="7D8DA6"/>
          </a:solidFill>
          <a:ln/>
        </p:spPr>
      </p:sp>
      <p:sp>
        <p:nvSpPr>
          <p:cNvPr id="14" name="Text 12"/>
          <p:cNvSpPr/>
          <p:nvPr/>
        </p:nvSpPr>
        <p:spPr>
          <a:xfrm>
            <a:off x="6324442" y="2154337"/>
            <a:ext cx="240024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2A3B5C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Preparar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324442" y="2636302"/>
            <a:ext cx="2400240" cy="1472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1E2B4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Funcionário confirma, prepara e actualiza o estado: recebido, em preparação, pronto, entregue ou cancelado.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81870" y="1738511"/>
            <a:ext cx="80940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1E2B44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81870" y="2021384"/>
            <a:ext cx="2400240" cy="12601"/>
          </a:xfrm>
          <a:prstGeom prst="rect">
            <a:avLst/>
          </a:prstGeom>
          <a:solidFill>
            <a:srgbClr val="7D8DA6"/>
          </a:solidFill>
          <a:ln/>
        </p:spPr>
      </p:sp>
      <p:sp>
        <p:nvSpPr>
          <p:cNvPr id="18" name="Text 16"/>
          <p:cNvSpPr/>
          <p:nvPr/>
        </p:nvSpPr>
        <p:spPr>
          <a:xfrm>
            <a:off x="9181870" y="2154337"/>
            <a:ext cx="240024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2A3B5C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Acompanhar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181870" y="2636302"/>
            <a:ext cx="2400240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1E2B4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Cliente acompanha o progresso e confirma o pagamento na caixa.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99722" y="203498"/>
            <a:ext cx="235678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22" dirty="0">
                <a:solidFill>
                  <a:srgbClr val="1E2B44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548309"/>
            <a:ext cx="6908627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000" kern="100" spc="-40" dirty="0">
                <a:solidFill>
                  <a:srgbClr val="2A3B5C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O objectivo é melhorar o fluxo sem complicar o trabalho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09585" y="2848670"/>
            <a:ext cx="520687" cy="520700"/>
          </a:xfrm>
          <a:prstGeom prst="ellipse">
            <a:avLst/>
          </a:prstGeom>
          <a:noFill/>
          <a:ln w="6350">
            <a:solidFill>
              <a:srgbClr val="1E2B44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331" y="3007420"/>
            <a:ext cx="203195" cy="20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3492560"/>
            <a:ext cx="3454314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1E2B4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Definir requisitos funcionais e não funcionais.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063898" y="2848670"/>
            <a:ext cx="520687" cy="520700"/>
          </a:xfrm>
          <a:prstGeom prst="ellipse">
            <a:avLst/>
          </a:prstGeom>
          <a:noFill/>
          <a:ln w="6350">
            <a:solidFill>
              <a:srgbClr val="1E2B44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2644" y="3007420"/>
            <a:ext cx="203195" cy="203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63898" y="3492560"/>
            <a:ext cx="3454314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1E2B4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Criar uma interface adaptável a computadores e telemóveis.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09585" y="4079180"/>
            <a:ext cx="520687" cy="520700"/>
          </a:xfrm>
          <a:prstGeom prst="ellipse">
            <a:avLst/>
          </a:prstGeom>
          <a:noFill/>
          <a:ln w="6350">
            <a:solidFill>
              <a:srgbClr val="1E2B44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331" y="4237930"/>
            <a:ext cx="203195" cy="203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9585" y="4723071"/>
            <a:ext cx="3454314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1E2B4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Organizar produtos, pedidos e itens numa base de dados.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4063898" y="4079180"/>
            <a:ext cx="520687" cy="520700"/>
          </a:xfrm>
          <a:prstGeom prst="ellipse">
            <a:avLst/>
          </a:prstGeom>
          <a:noFill/>
          <a:ln w="6350">
            <a:solidFill>
              <a:srgbClr val="1E2B44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2644" y="4237930"/>
            <a:ext cx="203195" cy="203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063898" y="4723071"/>
            <a:ext cx="3454314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1E2B4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Manter uma alternativa presencial para quem não usa tecnologia.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8127797" y="0"/>
            <a:ext cx="4063898" cy="6858000"/>
          </a:xfrm>
          <a:prstGeom prst="rect">
            <a:avLst/>
          </a:prstGeom>
          <a:solidFill>
            <a:srgbClr val="F5D9A0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99722" y="203498"/>
            <a:ext cx="235678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22" dirty="0">
                <a:solidFill>
                  <a:srgbClr val="1E2B44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73483" cy="6875363"/>
          </a:xfrm>
          <a:prstGeom prst="rect">
            <a:avLst/>
          </a:prstGeom>
          <a:solidFill>
            <a:srgbClr val="BCD4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673483" cy="68753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2269" y="127000"/>
            <a:ext cx="6400640" cy="1645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000" kern="100" spc="-40" dirty="0">
                <a:solidFill>
                  <a:srgbClr val="2A3B5C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HTML, CSS, PHP e MySQL formam uma arquitectura simples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232269" y="2035123"/>
            <a:ext cx="380990" cy="288032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1E2B44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619" y="1995039"/>
            <a:ext cx="368291" cy="3683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65656" y="1975941"/>
            <a:ext cx="5867253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2A3B5C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HTML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5765656" y="2457906"/>
            <a:ext cx="5867253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1E2B4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Estrutura páginas, formulários e tabelas.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232269" y="3266329"/>
            <a:ext cx="380990" cy="288032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1E2B44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619" y="3226245"/>
            <a:ext cx="368291" cy="3683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765656" y="3207147"/>
            <a:ext cx="5867253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2A3B5C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CSS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5765656" y="3689112"/>
            <a:ext cx="5867253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1E2B4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Define visual, legibilidade e adaptação ao ecrã.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5232269" y="4497534"/>
            <a:ext cx="380990" cy="288032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1E2B44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619" y="4457450"/>
            <a:ext cx="368291" cy="3683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765656" y="4438352"/>
            <a:ext cx="5867253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2A3B5C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PHP</a:t>
            </a:r>
            <a:endParaRPr lang="en-US" sz="2100" dirty="0"/>
          </a:p>
        </p:txBody>
      </p:sp>
      <p:sp>
        <p:nvSpPr>
          <p:cNvPr id="16" name="Text 10"/>
          <p:cNvSpPr/>
          <p:nvPr/>
        </p:nvSpPr>
        <p:spPr>
          <a:xfrm>
            <a:off x="5765656" y="4920317"/>
            <a:ext cx="5867253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1E2B4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Valida formulários, processa pedidos e controla permissões.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5232269" y="5728740"/>
            <a:ext cx="380990" cy="288032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1E2B44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619" y="5688655"/>
            <a:ext cx="368291" cy="3683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765656" y="5669558"/>
            <a:ext cx="5867253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2A3B5C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MySQL</a:t>
            </a:r>
            <a:endParaRPr lang="en-US" sz="2100" dirty="0"/>
          </a:p>
        </p:txBody>
      </p:sp>
      <p:sp>
        <p:nvSpPr>
          <p:cNvPr id="20" name="Text 13"/>
          <p:cNvSpPr/>
          <p:nvPr/>
        </p:nvSpPr>
        <p:spPr>
          <a:xfrm>
            <a:off x="5765656" y="6151523"/>
            <a:ext cx="5867253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1E2B4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Guarda produtos, utilizadores, pedidos e itens relacionados.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10244774" y="203498"/>
            <a:ext cx="1946921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22" dirty="0">
                <a:solidFill>
                  <a:srgbClr val="1E2B44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06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5232269" y="2972197"/>
            <a:ext cx="6400640" cy="12700"/>
          </a:xfrm>
          <a:prstGeom prst="rect">
            <a:avLst/>
          </a:prstGeom>
          <a:solidFill>
            <a:srgbClr val="7D8DA6"/>
          </a:solidFill>
          <a:ln/>
        </p:spPr>
      </p:sp>
      <p:sp>
        <p:nvSpPr>
          <p:cNvPr id="23" name="Shape 16"/>
          <p:cNvSpPr/>
          <p:nvPr/>
        </p:nvSpPr>
        <p:spPr>
          <a:xfrm>
            <a:off x="5232269" y="4203402"/>
            <a:ext cx="6400640" cy="12700"/>
          </a:xfrm>
          <a:prstGeom prst="rect">
            <a:avLst/>
          </a:prstGeom>
          <a:solidFill>
            <a:srgbClr val="7D8DA6"/>
          </a:solidFill>
          <a:ln/>
        </p:spPr>
      </p:sp>
      <p:sp>
        <p:nvSpPr>
          <p:cNvPr id="24" name="Shape 17"/>
          <p:cNvSpPr/>
          <p:nvPr/>
        </p:nvSpPr>
        <p:spPr>
          <a:xfrm>
            <a:off x="5232269" y="5434608"/>
            <a:ext cx="6400640" cy="12700"/>
          </a:xfrm>
          <a:prstGeom prst="rect">
            <a:avLst/>
          </a:prstGeom>
          <a:solidFill>
            <a:srgbClr val="7D8DA6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82600"/>
            <a:ext cx="10972526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000" kern="100" spc="-40" dirty="0">
                <a:solidFill>
                  <a:srgbClr val="2A3B5C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As tabelas centrais ligam catálogo, pedidos e atendimento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09585" y="1782961"/>
            <a:ext cx="1158211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i="1" dirty="0">
                <a:solidFill>
                  <a:srgbClr val="1E2B44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O modelo relacional simples mantém os dados ligados ao momento certo do pedido.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0895" y="2261691"/>
            <a:ext cx="3809905" cy="3809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60794" y="2856917"/>
            <a:ext cx="1226138" cy="95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00" kern="100" spc="-6" dirty="0">
                <a:solidFill>
                  <a:srgbClr val="000000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Produtos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4560794" y="3026102"/>
            <a:ext cx="1226138" cy="536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Nome, descrição, preço, disponibilidade.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408573" y="2856917"/>
            <a:ext cx="1226137" cy="95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00" kern="100" spc="-6" dirty="0">
                <a:solidFill>
                  <a:srgbClr val="000000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Utilizadores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6408573" y="3026102"/>
            <a:ext cx="1226137" cy="536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Contas autorizadas e papel de cada funcionário.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60794" y="4794117"/>
            <a:ext cx="1226138" cy="95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00" kern="100" spc="-6" dirty="0">
                <a:solidFill>
                  <a:srgbClr val="000000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Pedidos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4560794" y="4963302"/>
            <a:ext cx="1226138" cy="357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Código, data, estado e total do pedido.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408573" y="4704742"/>
            <a:ext cx="1226137" cy="95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00" kern="100" spc="-6" dirty="0">
                <a:solidFill>
                  <a:srgbClr val="000000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Itens_pedido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6408573" y="4873927"/>
            <a:ext cx="1226137" cy="536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Liga produto, quantidade e preço unitário confirmado.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99722" y="203498"/>
            <a:ext cx="235678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22" dirty="0">
                <a:solidFill>
                  <a:srgbClr val="1E2B44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58800"/>
            <a:ext cx="10972526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000" kern="100" spc="-40" dirty="0">
                <a:solidFill>
                  <a:srgbClr val="2A3B5C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Segurança e privacidade entram desde a primeira versão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09585" y="1859161"/>
            <a:ext cx="520687" cy="520700"/>
          </a:xfrm>
          <a:prstGeom prst="ellipse">
            <a:avLst/>
          </a:prstGeom>
          <a:noFill/>
          <a:ln w="6350">
            <a:solidFill>
              <a:srgbClr val="1E2B44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331" y="2017911"/>
            <a:ext cx="203195" cy="20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2557661"/>
            <a:ext cx="533386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2A3B5C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Proteger palavras-passe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09585" y="3039626"/>
            <a:ext cx="5333867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1E2B4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Guardar palavras-passe com hash, nunca em texto simples.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48244" y="1859161"/>
            <a:ext cx="520687" cy="520700"/>
          </a:xfrm>
          <a:prstGeom prst="ellipse">
            <a:avLst/>
          </a:prstGeom>
          <a:noFill/>
          <a:ln w="6350">
            <a:solidFill>
              <a:srgbClr val="1E2B44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6990" y="2017911"/>
            <a:ext cx="203195" cy="203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48244" y="2557661"/>
            <a:ext cx="533386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2A3B5C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Validar no servidor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6248244" y="3039626"/>
            <a:ext cx="5333867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1E2B4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Usar consultas preparadas e validar dados no servidor.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09585" y="3931047"/>
            <a:ext cx="520687" cy="520700"/>
          </a:xfrm>
          <a:prstGeom prst="ellipse">
            <a:avLst/>
          </a:prstGeom>
          <a:noFill/>
          <a:ln w="6350">
            <a:solidFill>
              <a:srgbClr val="1E2B44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331" y="4089797"/>
            <a:ext cx="203195" cy="203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9585" y="4629547"/>
            <a:ext cx="533386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2A3B5C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Limitar acessos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609585" y="5111512"/>
            <a:ext cx="5333867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1E2B4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Proteger sessões e limitar a área administrativa a funcionários autorizados.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6248244" y="3931047"/>
            <a:ext cx="520687" cy="520700"/>
          </a:xfrm>
          <a:prstGeom prst="ellipse">
            <a:avLst/>
          </a:prstGeom>
          <a:noFill/>
          <a:ln w="6350">
            <a:solidFill>
              <a:srgbClr val="1E2B44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6990" y="4089797"/>
            <a:ext cx="203195" cy="203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48244" y="4629547"/>
            <a:ext cx="533386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2A3B5C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Recolher o necessário</a:t>
            </a:r>
            <a:endParaRPr lang="en-US" sz="2100" dirty="0"/>
          </a:p>
        </p:txBody>
      </p:sp>
      <p:sp>
        <p:nvSpPr>
          <p:cNvPr id="18" name="Text 12"/>
          <p:cNvSpPr/>
          <p:nvPr/>
        </p:nvSpPr>
        <p:spPr>
          <a:xfrm>
            <a:off x="6248244" y="5111512"/>
            <a:ext cx="5333867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1E2B4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Recolher apenas os dados necessários e usar dados fictícios nos testes.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99722" y="203498"/>
            <a:ext cx="235678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22" dirty="0">
                <a:solidFill>
                  <a:srgbClr val="1E2B44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33400"/>
            <a:ext cx="10972526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000" kern="100" spc="-40" dirty="0">
                <a:solidFill>
                  <a:srgbClr val="2A3B5C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O sucesso depende de medir o antes e o depois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09585" y="1285180"/>
            <a:ext cx="1158211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i="1" dirty="0">
                <a:solidFill>
                  <a:srgbClr val="1E2B44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O piloto deve produzir evidência sobre o que melhora e sobre o que continua a limitar o atendimento.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9585" y="1763911"/>
            <a:ext cx="5257668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2A3B5C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Antes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09585" y="2243336"/>
            <a:ext cx="5257668" cy="1298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1E2B4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Observar o fluxo actual e comparar tempo médio e mediana de espera em períodos semelhantes.</a:t>
            </a:r>
            <a:endParaRPr lang="en-US" sz="16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1E2B4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Registar o tempo entre pedido e entrega, a espera na caixa e os pedidos concluídos.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24442" y="1763911"/>
            <a:ext cx="5257668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2A3B5C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Depois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324442" y="2243336"/>
            <a:ext cx="5257668" cy="1298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1E2B4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Recolher satisfação com perguntas breves e anónimas durante um teste piloto.</a:t>
            </a:r>
            <a:endParaRPr lang="en-US" sz="16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1E2B4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Reconhecer limitações: internet, capacidade da caixa, adesão dos clientes e falta de dados de referência.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9722" y="203498"/>
            <a:ext cx="235678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22" dirty="0">
                <a:solidFill>
                  <a:srgbClr val="1E2B44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09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89498" y="1763911"/>
            <a:ext cx="12700" cy="4484489"/>
          </a:xfrm>
          <a:prstGeom prst="rect">
            <a:avLst/>
          </a:prstGeom>
          <a:solidFill>
            <a:srgbClr val="7D8DA6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21407" cy="6858000"/>
          </a:xfrm>
          <a:prstGeom prst="rect">
            <a:avLst/>
          </a:prstGeom>
          <a:solidFill>
            <a:srgbClr val="F5D9A0"/>
          </a:solidFill>
          <a:ln/>
        </p:spPr>
      </p:sp>
      <p:sp>
        <p:nvSpPr>
          <p:cNvPr id="3" name="Text 1"/>
          <p:cNvSpPr/>
          <p:nvPr/>
        </p:nvSpPr>
        <p:spPr>
          <a:xfrm>
            <a:off x="558786" y="611188"/>
            <a:ext cx="6603835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200" kern="100" spc="-78" dirty="0">
                <a:solidFill>
                  <a:srgbClr val="2A3B5C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Conclusão e referências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58786" y="1473200"/>
            <a:ext cx="7162621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i="1" dirty="0">
                <a:solidFill>
                  <a:srgbClr val="000000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O sistema pode melhorar a organização, mas não elimina filas sozinho.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58786" y="1954471"/>
            <a:ext cx="6603835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Precisa de procedimentos claros, validação no local e um piloto com dados reais.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58786" y="2730480"/>
            <a:ext cx="6603835" cy="296466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88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REFERÊNCIAS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58786" y="3205857"/>
            <a:ext cx="6603835" cy="1676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b="1" u="sng" dirty="0">
                <a:solidFill>
                  <a:srgbClr val="1F4B7A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MDN Web Docs — HTML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b="1" u="sng" dirty="0">
                <a:solidFill>
                  <a:srgbClr val="1F4B7A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MDN Web Docs — CSS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b="1" u="sng" dirty="0">
                <a:solidFill>
                  <a:srgbClr val="1F4B7A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PHP Manual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b="1" u="sng" dirty="0">
                <a:solidFill>
                  <a:srgbClr val="1F4B7A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MySQL Reference Manual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b="1" u="sng" dirty="0">
                <a:solidFill>
                  <a:srgbClr val="1F4B7A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OWASP Top 10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21407" y="0"/>
            <a:ext cx="4470288" cy="6858000"/>
          </a:xfrm>
          <a:prstGeom prst="rect">
            <a:avLst/>
          </a:prstGeom>
          <a:solidFill>
            <a:srgbClr val="BCD4EE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99722" y="203498"/>
            <a:ext cx="235678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22" dirty="0">
                <a:solidFill>
                  <a:srgbClr val="1E2B44"/>
                </a:solidFill>
                <a:latin typeface="Bacasime Antique" pitchFamily="34" charset="0"/>
                <a:ea typeface="Bacasime Antique" pitchFamily="34" charset="-122"/>
                <a:cs typeface="Bacasime Antique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4B7A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627</Words>
  <Application>Microsoft Office PowerPoint</Application>
  <PresentationFormat>Widescreen</PresentationFormat>
  <Paragraphs>101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Funnel Sans Bold</vt:lpstr>
      <vt:lpstr>Arial</vt:lpstr>
      <vt:lpstr>Funnel Sans</vt:lpstr>
      <vt:lpstr>Bacasime Antique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Gildo Capita</dc:creator>
  <cp:lastModifiedBy>Anibal Seraponzo</cp:lastModifiedBy>
  <cp:revision>1</cp:revision>
  <dcterms:created xsi:type="dcterms:W3CDTF">2026-10-21T17:54:04Z</dcterms:created>
  <dcterms:modified xsi:type="dcterms:W3CDTF">2026-10-21T17:54:59Z</dcterms:modified>
</cp:coreProperties>
</file>